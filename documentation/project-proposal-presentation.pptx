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519B64C-DBC1-4514-A54B-4C0E2D241111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1: Project Title &amp; Vision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project: "PrivateFin is a locally-executed, AI-powered financial advisor bot that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delivers quantitative technical analysis and plain-English investment rationales—without ever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sending a single byte of user data to the cloud."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talking points: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Template 2 mandate: The brief asks for an LLM-integrated domain tool. PrivateFin interprets this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as a high-stakes finance domain where data privacy is a regulatory and ethical imperative.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Privacy-First mission: All inference runs on Apple M1 via Ollama; no OpenAI, no Gemini, no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third-party API keys—therefore no GDPR exposure, no data-retention risk.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Explainable AI: Every recommendation is accompanied by a structured chain-of-thought generated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by Llama 3, making the bot's logic auditable—a direct response to the EU AI Act's transparency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requirements for high-risk AI systems.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Tease the architecture: yfinance → Pandas indicators → Llama 3 reasoning → user-facing report.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EBE2FF-1A60-4260-A1AF-F15766B940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– Slide 2: The Motivation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TWO-PART PROBLEM: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A – Privacy Gap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Show a brief user journey: "You ask Nutmeg to rebalance; your holdings, income bracket, and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risk tolerance are serialised and sent to a US-based model inference server."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Cite: Deloitte (2023) estimated that 68 % of UK retail investors are unaware their behavioural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data feeds back into commercial ML pipelines.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Under GDPR Article 22, individuals have the right not to be subject to solely automated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decisions with significant financial effects—unless explicit consent is obtained AND the data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controller can explain the logic.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B – Black-Box Problem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FinGPT paper (Yang et al., 2023): strong performance on NLP-based financial tasks but zero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structured reasoning trace returned to the end user.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EU AI Act (Title III, Annex III): investment recommendation systems are explicitly listed as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high-risk—Article 13 mandates "sufficient transparency" for end users to understand outputs.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Contrast: PrivateFin's Llama 3 layer is prompted with a Chain-of-Thought template that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forces it to enumerate each technical signal before producing a conclusion.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"Given these two failures—privacy and explainability—what does the existing research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landscape look like, and what gap does PrivateFin fill?"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EEAFC1-B984-43BE-8A52-539B5860EE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– Slide 3: Related Work &amp; Research Gap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row of the comparison table: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FinGPT (Yang et al., 2023, arXiv:2306.06031)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Fine-tuned open LLM on financial corpora; achieves competitive sentiment classification.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Critical weakness: still deployed via cloud inference (Hugging Face Inference API or OpenAI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compatible endpoint). No offline mode. No user-facing explanation of why a signal is bullish.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BloombergGPT (Wu et al., 2023, arXiv:2303.17564)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Impressive 50B parameter domain-specific model trained on 363B Bloomberg tokens.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Critical weakness: closed-source, gated behind Bloomberg Terminal subscription. Unreproducible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for academic research; no transparency into inference logic.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Betterment / Wealthify (traditional robo-advisors)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Use Modern Portfolio Theory + rules-based rebalancing. Solid engineering, regulatory compliant.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Critical weakness: portfolio stored in cloud; explanations limited to "your risk band is 'Balanced'."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No signal-level justification for individual instrument decisions.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PrivateFin – the proposed contribution: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Local execution on M1: all data and weights stay on the user's machine.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Pandas-computed indicators (RSI, MACD, Bollinger Bands, etc.) feed a structured prompt.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Llama 3 generates a bullet-point Chain-of-Thought that names each signal before concluding.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Open-source and reproducible—no Bloomberg Terminal required.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"Having identified the gap, let me walk through the technical architecture that fills it."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1DC15A-B05A-4716-8F8A-20E6EA75E9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– Slide 4: Technical Architecture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four-stage pipeline left to right: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1 – Data Ingestion (yfinance)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yfinance (Aroussi, 2019) is a Python library wrapping the Yahoo Finance API.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Fetches OHLCV (Open, High, Low, Close, Volume) data going back to 2019 for back-testing.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Data is persisted locally as Apache Parquet files—columnar format, ~10× smaller than CSV.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No API key required; fully offline-capable once data is cached.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2 – Quantitative Analysis (Python / Pandas)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Relative Strength Index (RSI-14): momentum oscillator; readings &lt;30 flag oversold conditions.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MACD (12/26/9): trend-following indicator; bullish signal when MACD line crosses above signal.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Bollinger Bands (SMA-20, ±2σ): price touching lower band may indicate mean-reversion opportunity.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Volume z-score: flags unusual trading volume that may precede price moves.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3 – AI Reasoning Layer (Llama 3 via Ollama)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Ollama provides a local REST server for running quantised LLM models (GGUF format).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Llama 3 8B-Instruct runs comfortably in 5–6 GB RAM on M1 with Metal GPU acceleration.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 structured prompt template is injected: "Given these indicator values, reason step-by-step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before providing a recommendation."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Output includes: indicator interpretation → aggregate signal → plain-English rationale →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confidence level → disclaimer.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4 – Backtesting &amp; Validation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Vectorbt / Backtrader library used to simulate trading strategies over 5+ years of data.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Primary metrics: Sharpe Ratio (risk-adjusted return), Maximum Drawdown, Win Rate.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Compared against: (a) buy-and-hold SPY, (b) MACD-only rule-based strategy.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Walk-forward validation to avoid look-ahead bias.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Privacy footer: "Every arrow in this diagram stays inside the user's machine—there is no Step 5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says 'send to OpenAI'."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D7F96D-401F-41DD-AC04-B969E7E4A7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– Slide 5: Roadmap, Success Criteria &amp; Ethics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ROADMAP (12-week plan):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Phase 1: Bootstrap yfinance data pipeline; write unit tests for data integrity.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Phase 2: Implement and validate each technical indicator against established financial libraries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(pandas-ta). Produce a Jupyter notebook comparing indicator signals to known historical events.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Phase 3: Deploy Ollama locally, select Llama 3 8B-Instruct-Q4_K_M. Design and iterate on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structured Chain-of-Thought system prompt.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Phase 4: Integrate Vectorbt backtesting module. Run walk-forward validation. Compute Sharpe,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Sortino, Calmar ratios and Maximum Drawdown.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Phase 5: Write dissertation, produce screencast demo, prepare ethics self-assessment form.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SUCCESS CRITERIA (quantitative and qualitative):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Sharpe Ratio &gt; 0.8: chosen because the long-run US equity market produces ~0.6; beating it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demonstrates the system adds risk-adjusted value.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Coverage: at least 10 tickers across sectors (Tech, Healthcare, Energy, Financials) to avoid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survivorship bias.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Clarity survey: 20 participants (fellow students + CS staff) rate each explanation on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Likert scale. Target ≥ 4/5 mean score on "I understood why this recommendation was made."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Latency: 30 s is a UX threshold—beyond this, users abandon tools (Nielsen 2010).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ETHICAL CONSIDERATIONS: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Data Sovereignty: aligns with Nissenbaum's contextual integrity—financial data should not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flow outside its original context (the user's device).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Transparency: satisfies GDPR Article 22 and EU AI Act Article 13.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Disclaimer: the system will always prepend and append regulated disclaimers: "This output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for educational purposes only and does not constitute FCA-regulated financial advice."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Bias Auditing: back-test window deliberately spans 2019–2024, covering COVID crash (bear),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2021 bull run, and 2022 rate-rise correction—ensures the model is not only optimised for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bull markets.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Sustainability: 4-bit quantisation (GGUF Q4_K_M) reduces model memory footprint by ~75%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vs full precision, lowering energy consumption per inference.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 statement: "PrivateFin is not just a technical exercise—it is a proof-of-concept that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privacy-preserving, explainable AI in personal finance is both technically feasible and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ethically sound on commodity consumer hardware today."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B8A94-12DB-4022-B902-A16E83AA7F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60000" y="1874520"/>
            <a:ext cx="8503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PrivateFin</a:t>
            </a:r>
            <a:endParaRPr lang="en-GB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60000" y="288000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AI-Powered Financial Advisor Bot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Motivation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5943600" y="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274320" y="1005840"/>
            <a:ext cx="411444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274320" y="1005840"/>
            <a:ext cx="4114440" cy="5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11480" y="10972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🔒  The Privacy Gap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411480" y="1645920"/>
            <a:ext cx="38858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Retail fintech apps (Nutmeg, eToro) pipe sensitive portfolio data to cloud LLMs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Users unknowingly grant perpetual data-processing rights via ToS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GDPR Article 22: automated financial decisions require explicit consent &amp; explainability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No mainstream tool offers a fully air-gapped, on-device advisory pipeline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4754880" y="1005840"/>
            <a:ext cx="411444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4754880" y="1005840"/>
            <a:ext cx="4114440" cy="5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892040" y="10972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🤖  The Black-Box Problem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892040" y="1645920"/>
            <a:ext cx="38858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GPT-4/FinGPT give confident "BUY / SELL" calls with no derivable audit trail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EU AI Act (2024) classifies credit &amp; investment AI as high-risk—explainability is mandatory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Traditional robo-advisors (Betterment, Wealthify) use opaque portfolio-optimisation models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Retail investors cannot interrogate the reasoning behind a recommendation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274320" y="4663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68%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1325880" y="466344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of retail investors unaware their data is used for model training (FCA 2023)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3200400" y="4663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€20M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4251960" y="466344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GDPR fines for AI firms breaching automated-decision rules (2023)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6126480" y="4663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7178040" y="466344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major open-source local fintech advisory tools with full explainability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Related Work &amp; Research Gap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5577840" y="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Table 0"/>
          <p:cNvGraphicFramePr/>
          <p:nvPr/>
        </p:nvGraphicFramePr>
        <p:xfrm>
          <a:off x="274320" y="960120"/>
          <a:ext cx="8777880" cy="3291480"/>
        </p:xfrm>
        <a:graphic>
          <a:graphicData uri="http://schemas.openxmlformats.org/drawingml/2006/table">
            <a:tbl>
              <a:tblPr/>
              <a:tblGrid>
                <a:gridCol w="1691640"/>
                <a:gridCol w="2194560"/>
                <a:gridCol w="1143000"/>
                <a:gridCol w="1463040"/>
                <a:gridCol w="2286000"/>
              </a:tblGrid>
              <a:tr h="658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System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Approach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Privacy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Explainability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Gap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FinGPT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(Yang et al., 2023)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Cloud LLM fine-tuned on financial news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✗ Cloud API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✗ No reasoning trace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Data leaves device; no CoT output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BloombergGPT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(Wu et al., 2023)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Proprietary 50B param model on Bloomberg data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✗ Proprietary SaaS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✗ Black-box embeddings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Inaccessible to retail / researchers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Betterment / Wealthify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MPT-based robo-advisor, rules engine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⚠ Cloud storage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⚠ Partial (risk band only)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6274"/>
                          </a:solidFill>
                          <a:effectLst/>
                          <a:uFillTx/>
                          <a:latin typeface="Calibri"/>
                        </a:rPr>
                        <a:t>No natural-language justification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PrivateFin (THIS WORK)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D6F4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Local Llama 3 + yfinance + Pandas TA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D6F4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✅ 100% On-device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D6F4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✅ Structured CoT explanation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D6F4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D1B2A"/>
                          </a:solidFill>
                          <a:effectLst/>
                          <a:uFillTx/>
                          <a:latin typeface="Calibri"/>
                        </a:rPr>
                        <a:t>Fills the local + transparent gap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4E8E6"/>
                      </a:solidFill>
                      <a:prstDash val="solid"/>
                    </a:lnL>
                    <a:lnR w="6480">
                      <a:solidFill>
                        <a:srgbClr val="D4E8E6"/>
                      </a:solidFill>
                      <a:prstDash val="solid"/>
                    </a:lnR>
                    <a:lnT w="6480">
                      <a:solidFill>
                        <a:srgbClr val="D4E8E6"/>
                      </a:solidFill>
                      <a:prstDash val="solid"/>
                    </a:lnT>
                    <a:lnB w="6480">
                      <a:solidFill>
                        <a:srgbClr val="D4E8E6"/>
                      </a:solidFill>
                      <a:prstDash val="solid"/>
                    </a:lnB>
                    <a:solidFill>
                      <a:srgbClr val="D6F4F2"/>
                    </a:solidFill>
                  </a:tcPr>
                </a:tc>
              </a:tr>
            </a:tbl>
          </a:graphicData>
        </a:graphic>
      </p:graphicFrame>
      <p:sp>
        <p:nvSpPr>
          <p:cNvPr id="34" name="Shape 3"/>
          <p:cNvSpPr/>
          <p:nvPr/>
        </p:nvSpPr>
        <p:spPr>
          <a:xfrm>
            <a:off x="274320" y="4297680"/>
            <a:ext cx="8595000" cy="685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57200" y="4297680"/>
            <a:ext cx="832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Research Gap: No existing open-source tool combines local LLM inference, structured explainability, and automated market-data ingestion on consumer hardware.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365760" y="13716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Technical Architecture</a:t>
            </a:r>
            <a:endParaRPr lang="en-GB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182880" y="868680"/>
            <a:ext cx="2057040" cy="3977280"/>
          </a:xfrm>
          <a:prstGeom prst="rect">
            <a:avLst/>
          </a:prstGeom>
          <a:solidFill>
            <a:srgbClr val="0E2233"/>
          </a:solidFill>
          <a:ln w="12700">
            <a:solidFill>
              <a:srgbClr val="0E7C7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182880" y="868680"/>
            <a:ext cx="2057040" cy="456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82880" y="86868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255960" y="138996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Ingestion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255960" y="2030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yfinance API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255960" y="2377440"/>
            <a:ext cx="19198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OHLCV data · 5+ years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Automated daily refresh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S&amp;P 500 / FTSE 100 tickers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Stored locally as Parquet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2240280" y="2743200"/>
            <a:ext cx="173520" cy="5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2414160" y="868680"/>
            <a:ext cx="2057040" cy="3977280"/>
          </a:xfrm>
          <a:prstGeom prst="rect">
            <a:avLst/>
          </a:prstGeom>
          <a:solidFill>
            <a:srgbClr val="0E2233"/>
          </a:solidFill>
          <a:ln w="12700">
            <a:solidFill>
              <a:srgbClr val="F0A5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2414160" y="868680"/>
            <a:ext cx="2057040" cy="456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2414160" y="86868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2487240" y="138996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Quantitative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Analysis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2487240" y="2030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Python / Pandas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2487240" y="2377440"/>
            <a:ext cx="19198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RSI (14-period)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MACD (12/26/9)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Bollinger Bands (20-period)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Volume anomaly z-score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4471560" y="2743200"/>
            <a:ext cx="173520" cy="5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4645080" y="868680"/>
            <a:ext cx="2057040" cy="3977280"/>
          </a:xfrm>
          <a:prstGeom prst="rect">
            <a:avLst/>
          </a:prstGeom>
          <a:solidFill>
            <a:srgbClr val="0E2233"/>
          </a:solidFill>
          <a:ln w="12700">
            <a:solidFill>
              <a:srgbClr val="14B8A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4645080" y="868680"/>
            <a:ext cx="2057040" cy="456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4645080" y="86868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4718160" y="138996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Reasoning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4718160" y="2030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Llama 3 · Ollama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4718160" y="2377440"/>
            <a:ext cx="19198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Structured CoT prompt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Plain-English rationale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Sentiment integration (NLP)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Confidence-scored output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6702480" y="2743200"/>
            <a:ext cx="173520" cy="5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6876360" y="868680"/>
            <a:ext cx="2057040" cy="3977280"/>
          </a:xfrm>
          <a:prstGeom prst="rect">
            <a:avLst/>
          </a:prstGeom>
          <a:solidFill>
            <a:srgbClr val="0E2233"/>
          </a:solidFill>
          <a:ln w="12700">
            <a:solidFill>
              <a:srgbClr val="C084F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6876360" y="868680"/>
            <a:ext cx="2057040" cy="4568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6876360" y="86868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6949440" y="138996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Backtesting &amp;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6949440" y="2030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084FC"/>
                </a:solidFill>
                <a:effectLst/>
                <a:uFillTx/>
                <a:latin typeface="Calibri"/>
                <a:ea typeface="Calibri"/>
              </a:rPr>
              <a:t>Historical ≥ 5 yrs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6949440" y="2377440"/>
            <a:ext cx="19198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Sharpe Ratio benchmark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Max drawdown analysis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vs Buy-and-Hold baseline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AECFD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AECFD9"/>
                </a:solidFill>
                <a:effectLst/>
                <a:uFillTx/>
                <a:latin typeface="Calibri"/>
                <a:ea typeface="Calibri"/>
              </a:rPr>
              <a:t>Walk-forward validation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0"/>
          <p:cNvSpPr/>
          <p:nvPr/>
        </p:nvSpPr>
        <p:spPr>
          <a:xfrm>
            <a:off x="182880" y="4800600"/>
            <a:ext cx="877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365760" y="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Roadmap, Success Criteria &amp; Ethics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212080" y="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228600" y="914400"/>
            <a:ext cx="4068720" cy="406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365760" y="10058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PROJECT ROADMAP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320040" y="1417320"/>
            <a:ext cx="91080" cy="475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502920" y="141732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Phase 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502920" y="164592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Weeks 1–3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1325880" y="143568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Data pipeline: yfinance ingestion + Parquet storage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320040" y="2075760"/>
            <a:ext cx="91080" cy="475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502920" y="207576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502920" y="230436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Weeks 4–6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1325880" y="209412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Indicator engine: RSI, MACD, Bollinger Bands, z-score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320040" y="2734200"/>
            <a:ext cx="91080" cy="475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502920" y="273420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Phase 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502920" y="29628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Weeks 7–9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1325880" y="275220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LLM integration: Ollama setup, prompt engineering, CoT evaluation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320040" y="3392280"/>
            <a:ext cx="91080" cy="475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502920" y="339228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Phase 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502920" y="362088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Weeks 10–11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1325880" y="341064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Backtesting framework + Sharpe/drawdown analysis vs baseline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320040" y="4050720"/>
            <a:ext cx="91080" cy="475200"/>
          </a:xfrm>
          <a:prstGeom prst="rect">
            <a:avLst/>
          </a:prstGeom>
          <a:solidFill>
            <a:srgbClr val="6B8C9B"/>
          </a:solidFill>
          <a:ln w="12700">
            <a:solidFill>
              <a:srgbClr val="6B8C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502920" y="405072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Phase 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3"/>
          <p:cNvSpPr/>
          <p:nvPr/>
        </p:nvSpPr>
        <p:spPr>
          <a:xfrm>
            <a:off x="502920" y="427932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8C9B"/>
                </a:solidFill>
                <a:effectLst/>
                <a:uFillTx/>
                <a:latin typeface="Calibri"/>
                <a:ea typeface="Calibri"/>
              </a:rPr>
              <a:t>Week 12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4"/>
          <p:cNvSpPr/>
          <p:nvPr/>
        </p:nvSpPr>
        <p:spPr>
          <a:xfrm>
            <a:off x="1325880" y="406908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Report, demo screencast, and ethical review submission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5"/>
          <p:cNvSpPr/>
          <p:nvPr/>
        </p:nvSpPr>
        <p:spPr>
          <a:xfrm>
            <a:off x="4480560" y="914400"/>
            <a:ext cx="4434480" cy="1874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4617720" y="10058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SUCCESS CRITERIA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7"/>
          <p:cNvSpPr/>
          <p:nvPr/>
        </p:nvSpPr>
        <p:spPr>
          <a:xfrm>
            <a:off x="4617720" y="1371600"/>
            <a:ext cx="42058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Sharpe Ratio &gt; 0.8 on 5-year back-test (vs 0.6 buy-and-hold)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Backtesting coverage ≥ 5 years, ≥ 10 ticker symbols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LLM explanation rated ≥ 4/5 in user-study clarity survey (n ≥ 20)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6274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End-to-end latency &lt; 30 s per query on M1 MacBook Air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8"/>
          <p:cNvSpPr/>
          <p:nvPr/>
        </p:nvSpPr>
        <p:spPr>
          <a:xfrm>
            <a:off x="4480560" y="2926080"/>
            <a:ext cx="4434480" cy="2057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E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4617720" y="30175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ETHICAL FRAMEWORK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4617720" y="3364920"/>
            <a:ext cx="42058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🔒  Data Sovereignty — all inference on-device; no telemetry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📋  Transparency — structured CoT prompt forces auditable logic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⚠️  Disclaimer — bot explicitly not regulated financial advice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⚖️  Bias Auditing — backtests cover bear and bull market cycles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♻️  Sustainability — quantised 4-bit model reduces energy use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LibreOffice/26.2.1.2$MacOSX_AARCH64 LibreOffice_project/8399f6259d8c87f40e7255cdb3c9b958f5e08948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2026-04-22T15:43:31Z</dcterms:created>
  <dc:creator>University of London – Final Year CS Project</dc:creator>
  <dc:description/>
  <dc:language>en-GB</dc:language>
  <cp:lastModifiedBy/>
  <dcterms:modified xsi:type="dcterms:W3CDTF">2026-04-22T16:52:25Z</dcterms:modified>
  <cp:revision>10</cp:revision>
  <dc:subject>PptxGenJS Presentation</dc:subject>
  <dc:title>PrivateFin: Financial Advisor Bot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